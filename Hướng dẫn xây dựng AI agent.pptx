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88DE-03D8-B7EC-290D-4E205C378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E4094-9FFF-2954-9579-FD290A5BF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86790-0732-4D9B-5684-861A517E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8A6E-DCB0-4020-9797-CEA2A73F92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DEC53-91D2-F15D-E805-AAAF05E9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399D3-3FF5-9B2C-AC79-EB17B8D43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EDBD-CED8-41DA-8539-8BB511E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8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455-9639-BFF1-7F33-BACED822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F137-32A3-4215-613F-FEBEAF1BB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19E2E-D993-9BAE-F5DA-D444DA02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8A6E-DCB0-4020-9797-CEA2A73F92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575A7-AB9D-9103-51BF-D0C13122E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34D6D-2C75-019F-D895-8CE58EC0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EDBD-CED8-41DA-8539-8BB511E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35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A7A-7367-0A43-321A-633D3244B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4A09D-2AF1-02F9-2E58-1DAAF0D87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F3352-490B-4C7A-33AA-AB7778EF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8A6E-DCB0-4020-9797-CEA2A73F92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C1AA2-43CB-D51B-5AAF-1EBB9B64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634F3-C0E7-58BA-AFCE-6577EE221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EDBD-CED8-41DA-8539-8BB511E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9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0D82-018A-6A1D-8804-E10C1ADB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14E0E-885E-AE5E-AF85-62CFBBD3E4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0223A-91F9-8E1B-186F-5066060AF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C18A5-E1F9-A7D4-AC53-984FE1EC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8A6E-DCB0-4020-9797-CEA2A73F92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DBB61-909C-C1E8-D133-DB5A2A21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CAA93-B10A-839B-65DA-CEB402AB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EDBD-CED8-41DA-8539-8BB511E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3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6FEB-4774-D0E9-63A6-591C4E8AA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9433E-96DB-ECC8-5B11-91FA5EA25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C54-C89B-9560-B63E-15C9E5E40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C889C-9BC9-90DD-196B-4A2BC1209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784D0-A7C7-DFB6-0548-DF51862F2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E2AA79-179F-94B4-6544-D66F0CD86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8A6E-DCB0-4020-9797-CEA2A73F92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8B671C-7C98-63BE-3A3F-FEDDFEC0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1D8483-7F6D-180B-A8CC-D7D53B6C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EDBD-CED8-41DA-8539-8BB511E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95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3E7A5-169D-15BF-05AE-2FC5285DF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648F5B-519C-847E-7C16-775517E7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8A6E-DCB0-4020-9797-CEA2A73F92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06FDB-F458-513C-2F42-36101E5EB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AE5A1-02E0-964B-9417-E5F7EA3A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EDBD-CED8-41DA-8539-8BB511E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99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97EF89-96E7-E69E-FD1D-6BF19447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8A6E-DCB0-4020-9797-CEA2A73F92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A24EFC-E58E-E24C-00A6-C6A0616C8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16B36-35C8-39BF-28FB-F56E063F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EDBD-CED8-41DA-8539-8BB511E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7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F4A5-6F59-546E-9465-3BEA22536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AB533-E98B-6779-EA38-A58D655CE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327FC-6D25-0E29-9F39-E7FDB1165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B55B0-033C-ED39-716B-9224C494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8A6E-DCB0-4020-9797-CEA2A73F92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2D99B-3EA8-2994-9200-6A5694F9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1EFC6-8C50-62EA-0425-F017C68F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EDBD-CED8-41DA-8539-8BB511E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1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6B8F3-D151-812E-301F-88B7D32F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A2214-395A-4215-14E9-E45E5F069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F7046-A1D8-A18D-4394-08A525E29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826BE-6A89-E03A-7004-3144793C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8A6E-DCB0-4020-9797-CEA2A73F92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4D3E5-E8C9-BB2C-0E08-81D35243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0AE44-73C0-0868-2491-96A1EEE4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EDBD-CED8-41DA-8539-8BB511E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26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876A-985B-B935-553B-FFE98B5F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E8E18-E131-07D8-A96F-0AAA92F97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99EA7-29F5-CC2F-73E0-70AA5D59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8A6E-DCB0-4020-9797-CEA2A73F92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3B05F-283C-275B-A984-26D9FB31D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69389-B109-6C33-971F-613674009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EDBD-CED8-41DA-8539-8BB511E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1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49423-3AA5-A2F6-A5C5-90306F75F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695F7-FE78-4E4C-204C-98CD010E7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BD6B7-159A-049E-04D4-14C5ACF7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88A6E-DCB0-4020-9797-CEA2A73F92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9302C-55F3-01D6-CFF5-E79212F8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7A15A-8CDD-4A1C-C56C-0EEAB831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2EDBD-CED8-41DA-8539-8BB511E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1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226977-922F-0FC9-7021-1F010499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C6F54-5C5E-F195-4C95-C90071678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8CF8F-C76E-EEA7-B833-07C907148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88A6E-DCB0-4020-9797-CEA2A73F92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BB6E7-B5F5-B705-982A-BF0168390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F5AA7-43B7-0750-0FBE-67C69A901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2EDBD-CED8-41DA-8539-8BB511E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8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822960"/>
            <a:ext cx="10360152" cy="5212080"/>
          </a:xfrm>
          <a:prstGeom prst="roundRect">
            <a:avLst/>
          </a:prstGeom>
          <a:solidFill>
            <a:srgbClr val="131D31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463040" y="1280160"/>
            <a:ext cx="320040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⭐ DỰ ÁN THỰC CHIẾN: QA-GYM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HƯỚNG DẪN XÂY DỰNG AI AGENT</a:t>
            </a:r>
            <a:br/>
            <a:r>
              <a:t>HỖ TRỢ KHÁCH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CBD5E1"/>
                </a:solidFill>
                <a:latin typeface="Segoe UI"/>
              </a:defRPr>
            </a:pPr>
            <a:r>
              <a:t>Quy trình trọn vẹn từ thiết kế kiến trúc, lập trình Backend (Node.js &amp; Gemini 3.8 Flash)</a:t>
            </a:r>
            <a:br/>
            <a:r>
              <a:t>đến tích hợp ứng dụng di động Mobile (React Native / Expo Router).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389120"/>
            <a:ext cx="2743200" cy="502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DE047"/>
                </a:solidFill>
                <a:latin typeface="Segoe UI"/>
              </a:defRPr>
            </a:pPr>
            <a:r>
              <a:t>👤 Nguyễn Mạnh Dũng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389120"/>
            <a:ext cx="2743200" cy="502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DE047"/>
                </a:solidFill>
                <a:latin typeface="Segoe UI"/>
              </a:defRPr>
            </a:pPr>
            <a:r>
              <a:t>👤 Đỗ Hữu Quốc Ánh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0" y="4389120"/>
            <a:ext cx="2743200" cy="502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DE047"/>
                </a:solidFill>
                <a:latin typeface="Segoe UI"/>
              </a:defRPr>
            </a:pPr>
            <a:r>
              <a:t>👤 Lê Huy Hoàng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Mục tiêu &amp; Định hướng xây dựng AI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TỔNG QUAN DỰ 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59654" y="1485900"/>
            <a:ext cx="3615266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50" b="1">
                <a:solidFill>
                  <a:srgbClr val="38BDF8"/>
                </a:solidFill>
                <a:latin typeface="Segoe UI"/>
              </a:defRPr>
            </a:pPr>
            <a:r>
              <a:rPr dirty="0"/>
              <a:t>🎯 MỤC TIÊU &amp; PHẠM VI DỰ 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150" b="1">
                <a:solidFill>
                  <a:srgbClr val="FDE047"/>
                </a:solidFill>
                <a:latin typeface="Segoe UI"/>
              </a:defRPr>
            </a:pPr>
            <a:r>
              <a:t>Mục tiêu cốt lõi của tài liệu: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Cung cấp hướng dẫn thực chiến đi kèm đầy đủ mã nguồn từ dự án thực tế QA-Gym để người đọc tự xây dựng và vận hành thành công một AI Agent tương tự.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150" b="1">
                <a:solidFill>
                  <a:srgbClr val="FDE047"/>
                </a:solidFill>
                <a:latin typeface="Segoe UI"/>
              </a:defRPr>
            </a:pPr>
            <a:r>
              <a:t>Triển khai hoàn chỉnh hai đầu (End-to-End):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Backend Engine: Node.js, Express, SDK @google/genai (Gemini 3.8 Flash), MySQL Connection Pool.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Mobile Client: React Native, Expo Router, TypeScript, Quản lý Token JWT, Giao diện Chatbot Dark Mode.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150" b="1">
                <a:solidFill>
                  <a:srgbClr val="FDE047"/>
                </a:solidFill>
                <a:latin typeface="Segoe UI"/>
              </a:defRPr>
            </a:pPr>
            <a:r>
              <a:t>Năng lực đạt được sau khi hoàn thành: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AI tự động gọi Tool truy vấn CSDL theo thời gian thực.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Ghi nhớ ngữ cảnh đa lượt (Multi-turn Memory).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Bảo mật tuyệt đối dữ liệu hội viên qua Token JWT.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30999" y="1485900"/>
            <a:ext cx="4001347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50" b="1">
                <a:solidFill>
                  <a:srgbClr val="A3E635"/>
                </a:solidFill>
                <a:latin typeface="Segoe UI"/>
              </a:defRPr>
            </a:pPr>
            <a:r>
              <a:rPr dirty="0"/>
              <a:t>⚡ CHATBOT THÔNG THƯỜNG VS 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150" b="1">
                <a:solidFill>
                  <a:srgbClr val="F87171"/>
                </a:solidFill>
                <a:latin typeface="Segoe UI"/>
              </a:defRPr>
            </a:pPr>
            <a:r>
              <a:t>Chatbot truyền thống (Dựa trên từ khóa / Prompt tĩnh):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Chỉ so khớp từ khóa cứng nhắc hoặc dựa vào tri thức đóng băng lúc huấn luyện.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KHÔNG thể gọi API hoặc truy vấn dữ liệu từ CSDL thật.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Rất dễ sinh ảo giác (Hallucination), tự bịa đặt giá cả và thông tin gói tập.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150" b="1">
                <a:solidFill>
                  <a:srgbClr val="A3E635"/>
                </a:solidFill>
                <a:latin typeface="Segoe UI"/>
              </a:defRPr>
            </a:pPr>
            <a:r>
              <a:t>AI Agent thông minh (Kiến trúc Function Calling):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Hiểu ngữ nghĩa ngôn ngữ tự nhiên sâu sắc nhờ mô hình LLM tiên tiến (Gemini 3.8 Flash).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Tự động ra quyết định chọn đúng công cụ (Tool Calling).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Lấy dữ liệu thực tế từ MySQL CSDL trước khi tổng hợp câu trả lời cho khách hàng.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• Phân định rạch ròi dữ liệu chung và dữ liệu cá nhân.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Kiến trúc tổng thể hệ thống QA-Gym AI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KIẾN TRÚC 4 TẦNG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3039"/>
            <a:ext cx="5029200" cy="27463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MÔ HÌNH 4 TẦNG PHÂN TÁCH RÕ RÀNG: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Tầng Client (Mobile App):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Giao diện React Native (Expo) gửi câu hỏi kèm Bearer JWT Token.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Quản lý trạng thái chờ và tự động cuộn tin nhắn mượt mà.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2. Tầng Bảo mật &amp; Điều phối (Express Gateway):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Middleware xác thực JWT, trích xuất an toàn TaiKhoanID.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Phân quyền qua customerPaths bảo vệ endpoint /ai-agent/chat.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3. Tầng Quản lý Phiên &amp; Ý định (Agent Core):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Lưu trữ hội thoại RAM Map O(1) theo Sliding Window 20 tin nhắn.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Nhận diện ý định chuyên sâu: gói cá nhân, so sánh thời hạn, hỏi giá tiếp nối.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4. Tầng Mô hình AI &amp; CSDL (Gemini &amp; MySQL):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Gemini 3.8 Flash kích hoạt Function Calling.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Backend tiêm ID an toàn vào các hàm truy vấn MySQL Pool.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Cấu trúc thư mục Source Code (BE &amp; Mobile)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QUẢN LÝ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irector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33810"/>
            <a:ext cx="5029200" cy="27047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PHÂN ĐỊNH TRÁCH NHIỆM FILE TRONG DỰ ÁN: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• BE/services/ai-agent.service.js: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Trọng tâm điều phối AI: Khởi tạo SDK, định nghĩa Tools, System Prompt, hàm chat().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• BE/services/conversation-memory.service.js: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Quản lý bộ nhớ hội thoại RAM Map O(1), giới hạn 20 tin nhắn.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• BE/controllers/ai-agent.controller.js: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Validate dữ liệu, lấy TaiKhoanID từ token, bắt lỗi.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• BE/routes/ai-agent.route.js &amp; app.js: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Đăng ký POST /chat và phân quyền JWT trong customerPaths.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• Mobile/src/lib/ai-agent-api.ts: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API Client có timeout 60s và tự động gắn token JWT.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• Mobile/src/app/ai-chat.tsx &amp; index.tsx: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Màn hình Chatbot UI hoàn chỉnh và nút tắt Trang chủ.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Mô hình CSDL &amp; Kết nối Tool Calling an toàn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BẢO MẬT &amp; CSDL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tabas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42277"/>
            <a:ext cx="5029200" cy="27047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NGUYÊN TẮC BẢO MẬT DỮ LIỆU TUYỆT ĐỐI: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AI không bao giờ kết nối trực tiếp DB: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AI chỉ gửi yêu cầu gọi Tool dưới dạng JSON, Backend là nơi duy nhất thực thi câu lệnh SQL.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2. Tiêm định danh tài khoản ngầm (Identity Injection):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Với các hàm cá nhân (getMyMembership, getMyCheckinHistory), Backend tự động lấy accountId = req.auth.TaiKhoanID từ JWT.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Tuyệt đối không nhận ID do AI hoặc User tự nhập trong câu hỏi.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3. Phân vùng dữ liệu trong MySQL: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goitap, GoiTapThoiHan: Gói tập mở bán, giá, tháng tặng.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sanpham: Dụng cụ, phụ kiện, thực phẩm bổ sung.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dangkygoitap, hoivien, thanhtoan: Gói tập cá nhân hội viên.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checkin: Lịch sử ra/vào phòng tập 10 lần gần nhất.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914400"/>
            <a:ext cx="10360152" cy="5029200"/>
          </a:xfrm>
          <a:prstGeom prst="roundRect">
            <a:avLst/>
          </a:prstGeom>
          <a:solidFill>
            <a:srgbClr val="131D31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463040" y="1463040"/>
            <a:ext cx="256032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PHẦN 01 / BACKEND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148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LẬP TRÌNH BACKEND AI AGENT (NODE.JS)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Cấu hình môi trường, khởi tạo Gemini Client, xây dựng Tools, Memory và API bảo mật.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389120"/>
            <a:ext cx="274320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⚡ Google Gemini 3.8 Flash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389120"/>
            <a:ext cx="274320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DE047"/>
                </a:solidFill>
                <a:latin typeface="Segoe UI"/>
              </a:defRPr>
            </a:pPr>
            <a:r>
              <a:t>🔒 JWT Security Guardrails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0" y="4389120"/>
            <a:ext cx="274320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3E635"/>
                </a:solidFill>
                <a:latin typeface="Segoe UI"/>
              </a:defRPr>
            </a:pPr>
            <a:r>
              <a:t>💾 MySQL Connection Pool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1: Cấu hình .env &amp; Khởi tạo Gemini Client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BACKEND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BE/services/ai-agent.service.js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BE/.env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PORT=3000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DB_HOST=localhost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DB_USER=root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DB_PASSWORD=your_password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DB_NAME=gym_database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GEMINI_API_KEY=AIzaSyD...your_api_key_here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GEMINI_MODEL=gemini-3.8-flash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BE/services/ai-agent.service.js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{ GoogleGenAI } = require("@google/genai");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db = require("../common/db");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conversationMemory = require("./conversation-memory.service");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Khởi tạo Gemini AI Client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ai = new GoogleGenAI({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apiKey: process.env.GEMINI_API_KEY,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MODEL = process.env.GEMINI_MODEL || "gemini-3.8-flash";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console.log("Gemini API Key:", process.env.GEMINI_API_KEY ? "Đã cấu hình" : "Chưa cấu hình");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console.log("Gemini Model:", MODEL);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rPr dirty="0"/>
              <a:t>HƯỚNG DẪN TRIỂN KHAI: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1. Cài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thư</a:t>
            </a:r>
            <a:r>
              <a:rPr dirty="0"/>
              <a:t> </a:t>
            </a:r>
            <a:r>
              <a:rPr dirty="0" err="1"/>
              <a:t>viện</a:t>
            </a:r>
            <a:r>
              <a:rPr dirty="0"/>
              <a:t> SDK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   </a:t>
            </a:r>
            <a:r>
              <a:rPr dirty="0" err="1"/>
              <a:t>npm</a:t>
            </a:r>
            <a:r>
              <a:rPr dirty="0"/>
              <a:t> install @google/genai </a:t>
            </a:r>
            <a:r>
              <a:rPr dirty="0" err="1"/>
              <a:t>dotenv</a:t>
            </a:r>
            <a:r>
              <a:rPr dirty="0"/>
              <a:t> mysql2 express</a:t>
            </a:r>
          </a:p>
          <a:p>
            <a:pPr>
              <a:defRPr sz="400">
                <a:latin typeface="Segoe UI"/>
              </a:defRPr>
            </a:pPr>
            <a:endParaRPr dirty="0"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2.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biến</a:t>
            </a:r>
            <a:r>
              <a:rPr dirty="0"/>
              <a:t> </a:t>
            </a:r>
            <a:r>
              <a:rPr dirty="0" err="1"/>
              <a:t>môi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 .env: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   • GEMINI_API_KEY: </a:t>
            </a:r>
            <a:r>
              <a:rPr dirty="0" err="1"/>
              <a:t>Lấy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Google AI Studio.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   • GEMINI_MODEL: gemini-3.8-flash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hồi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 (&lt; 1.5s) </a:t>
            </a:r>
            <a:r>
              <a:rPr dirty="0" err="1"/>
              <a:t>và</a:t>
            </a:r>
            <a:r>
              <a:rPr dirty="0"/>
              <a:t> chi </a:t>
            </a:r>
            <a:r>
              <a:rPr dirty="0" err="1"/>
              <a:t>phí</a:t>
            </a:r>
            <a:r>
              <a:rPr dirty="0"/>
              <a:t>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.</a:t>
            </a:r>
          </a:p>
          <a:p>
            <a:pPr>
              <a:defRPr sz="400">
                <a:latin typeface="Segoe UI"/>
              </a:defRPr>
            </a:pPr>
            <a:endParaRPr dirty="0"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3. </a:t>
            </a:r>
            <a:r>
              <a:rPr dirty="0" err="1"/>
              <a:t>Khởi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 Client an </a:t>
            </a:r>
            <a:r>
              <a:rPr dirty="0" err="1"/>
              <a:t>toàn</a:t>
            </a:r>
            <a:r>
              <a:rPr dirty="0"/>
              <a:t>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   •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GoogleGenAI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package @google/genai.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   • </a:t>
            </a:r>
            <a:r>
              <a:rPr dirty="0" err="1"/>
              <a:t>Giữ</a:t>
            </a:r>
            <a:r>
              <a:rPr dirty="0"/>
              <a:t> API Key an </a:t>
            </a:r>
            <a:r>
              <a:rPr dirty="0" err="1"/>
              <a:t>toàn</a:t>
            </a:r>
            <a:r>
              <a:rPr dirty="0"/>
              <a:t> ở Backend, </a:t>
            </a:r>
            <a:r>
              <a:rPr dirty="0" err="1"/>
              <a:t>tuyệt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gửi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phía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Mobile.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   •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MySQL pool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</a:t>
            </a:r>
            <a:r>
              <a:rPr dirty="0" err="1"/>
              <a:t>hội</a:t>
            </a:r>
            <a:r>
              <a:rPr dirty="0"/>
              <a:t> </a:t>
            </a:r>
            <a:r>
              <a:rPr dirty="0" err="1"/>
              <a:t>thoại</a:t>
            </a:r>
            <a:r>
              <a:rPr dirty="0"/>
              <a:t> 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2: Định nghĩa Danh sách Tools (Tool Schema)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BACKEND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BE/services/ai-agent.service.js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BE/services/ai-agent.service.js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tools = [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name: "getActivePackages",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description: "Chỉ sử dụng khi khách hàng muốn xem danh sách các gói tập Gym đang mở bán, giá tiền, thời hạn và quyền lợi.",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parameters: { type: "OBJECT", properties: {} },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name: "getActiveProducts",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description: "Sử dụng khi khách hàng muốn xem, tìm kiếm hoặc hỏi giá các sản phẩm và phụ kiện đang kinh doanh tại phòng Gym.",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parameters: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type: "OBJECT",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properties: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keyword: { type: "STRING", description: "Tên sản phẩm cần tìm. Để trống nếu muốn xem tất cả." },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},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name: "getMyMembership",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description: "BẮT BUỘC sử dụng khi khách hàng hỏi về gói tập cá nhân của họ: Tôi đang dùng gói nào? Còn hạn không? Khi nào hết hạn? Chỉ tra cứu tài khoản đang đăng nhập.",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parameters: { type: "OBJECT", properties: {} },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name: "getMyCheckinHistory",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description: "Sử dụng khi khách hàng muốn xem lịch sử tập luyện, lịch sử check-in, thời gian vào/ra phòng Gym của chính họ.",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parameters: { type: "OBJECT", properties: {} },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];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THIẾT KẾ TOOL SCHEMA CHUẨN OPENAPI: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• Phân định chức năng rõ ràng: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- getActivePackages: Gói tập mở bán (dữ liệu chung toàn hệ thống).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- getMyMembership: Gói tập cá nhân của hội viên (dữ liệu riêng tư).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- getActiveProducts: Tìm kiếm phụ kiện, dụng cụ theo từ khóa.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- getMyCheckinHistory: Lịch sử vào/ra phòng tập của hội viên.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• Kỹ thuật viết Description cho AI: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- Mô tả chi tiết giúp LLM nhận diện chính xác khi nào cần gọi tool nào.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- Từ khóa 'BẮT BUỘC' định hướng hành vi của Gemini, tránh trả lời chung chung hoặc tự bịa đặt.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3: Lập trình hàm Tool truy vấn CSDL MySQL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BACKEND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BE/services/ai-agent.service.js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BE/services/ai-agent.service.js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1. Lấy danh sách gói tập mở bán (kèm tháng tặng và giá bán)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async function getActivePackages()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[rows] = await db.promise().query(`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SELECT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g.GoiTapID, g.TenGoi, g.MoTa, g.ThoiHan, g.Gia,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th.GoiTapThoiHanID, th.SoThang, th.ThangTang, th.GiaBan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FROM goitap g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LEFT JOIN GoiTapThoiHan th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ON th.GoiTapID = g.GoiTapID AND th.TrangThai = 'ACTIVE'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WHERE g.TrangThai = 'ACTIVE'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ORDER BY g.Gia ASC, g.GoiTapID ASC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`);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return rows;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2. Tra cứu sản phẩm kinh doanh theo từ khóa tìm kiếm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async function getActiveProducts(args = {})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keyword = String(args.keyword || "").trim();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[rows] = await db.promise().query(`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SELECT SanPhamID, TenSanPham, MoTa, GiaBan, DonViTinh, TrangThai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FROM sanpham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WHERE TrangThai = 'ACTIVE' AND (? = '' OR TenSanPham LIKE ?)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ORDER BY TenSanPham ASC LIMIT 20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`, [keyword, `%${keyword}%`]);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return rows;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NGUYÊN TẮC VIẾT TOOL CSDL: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Sử dụng MySQL Promise Pool: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db.promise().query(...) giúp code async/await bất đồng bộ gọn gàng, hiệu năng cao.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2. Lọc trạng thái ACTIVE: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Chỉ trả về các gói tập và sản phẩm đang còn hiệu lực kinh doanh thực tế.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LEFT JOIN bảng GoiTapThoiHan để lấy số tháng và tháng tặng ưu đãi kèm theo.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3. Phòng chống triệt để SQL Injection: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Sử dụng parameterized query với dấu hỏi ? và truyền mảng tham số [keyword, `%${keyword}%`].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Giới hạn LIMIT 20 để tránh quá tải kích thước token ngữ cảnh khi đưa vào LLM.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4: Bảo mật dữ liệu cá nhân Hội viên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BACKEND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BE/services/ai-agent.service.js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BE/services/ai-agent.service.js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3. Tra cứu gói tập của chính tài khoản đăng nhập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async function getMyMembership(accountId)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[rows] = await db.promise().query(`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SELECT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dk.DangKyID, g.TenGoi, th.SoThang, th.ThangTang,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DATE_FORMAT(dk.NgayBatDau, '%Y-%m-%d') AS NgayBatDau,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DATE_FORMAT(dk.NgayKetThuc, '%Y-%m-%d') AS NgayKetThuc,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dk.GiaThanhToan, dk.TrangThai AS TrangThaiDangKy,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tt.TrangThai AS TrangThaiThanhToan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FROM hoivien hv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INNER JOIN dangkygoitap dk ON dk.HoiVienID = hv.HoiVienID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INNER JOIN goitap g ON g.GoiTapID = dk.GoiTapID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INNER JOIN GoiTapThoiHan th ON th.GoiTapThoiHanID = dk.GoiTapThoiHanID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LEFT JOIN thanhtoan tt ON tt.DangKyID = dk.DangKyID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WHERE hv.TaiKhoanID = ?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ORDER BY dk.DangKyID DESC LIMIT 5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`, [accountId]);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return rows;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4. Tra cứu lịch sử check-in vào/ra phòng tập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async function getMyCheckinHistory(accountId)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[rows] = await db.promise().query(`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SELECT ci.CheckInID, ci.ThoiGianCheckIn, ci.ThoiGianCheckOut, ci.TrangThai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FROM hoivien hv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INNER JOIN checkin ci ON ci.HoiVienID = hv.HoiVienID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WHERE hv.TaiKhoanID = ?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  ORDER BY ci.ThoiGianCheckIn DESC LIMIT 10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`, [accountId]);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return rows;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BẢO MẬT DỮ LIỆU CÁ NHÂN: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Ràng buộc theo TaiKhoanID: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Tham số accountId được Backend tiêm trực tiếp từ Token JWT của người đăng nhập.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Khách hàng A tuyệt đối không thể xem lén thông tin của Khách hàng B.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2. Định dạng ngày tháng sẵn (%Y-%m-%d):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Giúp LLM đọc ngày bắt đầu/kết thúc chuẩn xác, không bị lệch múi giờ UTC.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3. Kết hợp nhiều bảng (JOIN):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Nối hoivien, dangkygoitap, goitap, thanhtoan để có đầy đủ trạng thái thanh toán và hiệu lực gói.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5: Xây dựng Bộ điều phối Tool Executor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BACKEND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BE/services/ai-agent.service.js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BE/services/ai-agent.service.js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Thực thi Tool do AI yêu cầu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async function executeTool(name, args, accountId)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console.log("AI ĐANG GỌI TOOL:", name);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console.log("THAM SỐ:", args);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switch (name)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case "getActivePackages":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  return await getActivePackages();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case "getActiveProducts":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  return await getActiveProducts(args);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case "getMyMembership":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  return await getMyMembership(accountId);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case "getMyCheckinHistory":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  return await getMyCheckinHistory(accountId);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default: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throw new Error("AI yêu cầu công cụ không được cấp phép.");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VAI TRÒ CỦA TOOL EXECUTOR: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Cơ chế Whitelist an toàn: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Chỉ cho phép thực thi đúng 4 công cụ nằm trong danh sách đã cấp phép.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Bất kỳ yêu cầu gọi hàm lạ nào từ LLM đều lập tức bị chặn bằng Exception.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2. Tiêm định danh tài khoản (Identity Injection):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accountId được truyền ngầm từ phiên đăng nhập vào getMyMembership và getMyCheckinHistory.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Không để AI quyết định ID của người dùng.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3. Ghi log kiểm toán (Audit Logging):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In tên Tool và tham số ra console phục vụ việc giám sát hoạt động và debug.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6: Thiết kế System Prompt chuẩn QA-Gym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BACKEND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BE/services/ai-agent.service.js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BE/services/ai-agent.service.js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SYSTEM_PROMPT = `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Bạn là QA-Gym AI, trợ lý chăm sóc khách hàng của phòng tập QA-Gym.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NHIỆM VỤ: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- Giải đáp thắc mắc về phòng Gym, tư vấn gói tập và sản phẩm.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- Tra cứu thông tin hội viên và lịch sử check-in.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QUY TẮC BẮT BUỘC: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1. Luôn trả lời bằng tiếng Việt, lịch sự và dễ hiểu.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2. Không tự bịa giá, thời hạn, tên gói tập hoặc thông tin sản phẩm.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3. Khi nhận được dữ liệu từ công cụ, chỉ sử dụng dữ liệu đó để trả lời.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4. Nếu dữ liệu không có thông tin được hỏi, phải thông báo rõ.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5. Chỉ tra cứu thông tin cá nhân của tài khoản đang đăng nhập.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6. Không tiết lộ dữ liệu của hội viên khác.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7. Không tự xác nhận thanh toán, đăng ký hoặc thay đổi dữ liệu.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8. Nếu không giải quyết được, hướng dẫn khách hàng liên hệ nhân viên.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9. Không tiết lộ API Key, cấu hình hệ thống, câu lệnh SQL hoặc thông tin nội bộ.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10. Phân biệt rõ: Gói tập mở bán (getActivePackages) vs Gói tập cá nhân (getMyMembership).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`;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CHIẾN LƯỢC PROMPT ENGINEERING: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Xác lập Persona (Nhân vật):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Định vị là Trợ lý chăm sóc khách hàng của QA-Gym, giao tiếp chuyên nghiệp, thân thiện.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2. Nguyên tắc Anti-Hallucination: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Quy tắc 2 &amp; 3 cấm LLM tự suy đoán hoặc bịa số liệu giá bán, ngày tháng.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3. Rào cản an toàn (Safety Guardrails):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Cấm thực hiện các giao dịch nhạy cảm (thanh toán, đổi mật khẩu).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Cấm rò rỉ prompt nội bộ, API Key hoặc câu lệnh SQL (chống Prompt Injection).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Phân định dứt khoát giữa gói tập đang mở bán và gói tập đã mua của hội viên.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7: Quản lý Bộ nhớ Hội thoại (RAM Memory)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BACKEND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BE/services/conversation-memory.service.js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BE/services/conversation-memory.service.js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{ randomUUID } = require("crypto");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conversations = new Map(); // Lưu trữ trên RAM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MAX_MESSAGES = 20;         // Cửa sổ trượt tối đa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function createConversation(accountId)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conversationId = randomUUID();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conversations.set(conversationId,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accountId: String(accountId),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messages: [],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createdAt: new Date(), updatedAt: new Date()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return conversationId;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function getConversationHistory(conversationId, accountId)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conversation = getConversation(conversationId, accountId);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if (!conversation) return null;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return conversation.messages.map(({ role, text }) =&gt; ({ role, text }));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function saveMessage(conversationId, accountId, role, text)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conversation = getConversation(conversationId, accountId);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if (!conversation) throw new Error("Không tìm thấy cuộc trò chuyện.");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conversation.messages.push({ role, text: String(text), createdAt: new Date() });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if (conversation.messages.length &gt; MAX_MESSAGES)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conversation.messages = conversation.messages.slice(-MAX_MESSAGES);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conversation.updatedAt = new Date();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QUẢN LÝ MULTI-TURN MEMORY: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Cấu trúc Map in RAM: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Tốc độ đọc/ghi cực nhanh O(1), không tốn chi phí I/O disk hay database.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Mã định danh ngẫu nhiên chuẩn randomUUID() an toàn.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2. Cô lập theo accountId: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Mỗi cuộc hội thoại gắn liền với tài khoản tạo ra nó.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getConversation kiểm tra chặt chẽ conversation.accountId !== accountId để tránh lộ dữ liệu chéo.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3. Cơ chế Sliding Window (Cửa sổ trượt):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Giới hạn 20 tin nhắn gần nhất giúp kiểm soát lượng token gửi đến LLM, giảm độ trễ và chi phí API.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8: Xử lý Ngữ cảnh tiếp nối &amp; Nhận diện nâng cao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BACKEND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BE/services/ai-agent.service.js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BE/services/ai-agent.service.js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1. Nhận diện câu hỏi hỏi tiếp về giá của gói tập trước đó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function isPackagePriceFollowUp(message)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text = normalizeVietnamese(message);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patterns = ["goi do co gia bao nhieu", "gia goi nay", "goi do bao nhieu tien", "gia goi do"];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return patterns.some(pattern =&gt; text.includes(pattern));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2. Tìm gói tập được nhắc tới trong câu trả lời gần nhất của AI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function findReferencedPackages(packages, history = [])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lastModelMessage = [...history].reverse().find(item =&gt; item.role === "model" &amp;&amp; item.text);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if (!lastModelMessage) return [];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previousAnswer = normalizeVietnamese(lastModelMessage.text);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return packages.filter(item =&gt;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const name = normalizeVietnamese(item.TenGoi);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return name &amp;&amp; previousAnswer.includes(name);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3. Phân tích gói tập dài nhất (có hoặc không tính tháng tặng)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function isLongestPackageQuestion(message, history = [])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text = normalizeVietnamese(message);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return ["goi nao co thoi han dai nhat", "goi nao dai nhat", "goi nao lau nhat"].some(p =&gt; text.includes(p));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TRÍ TUỆ NHÂN TẠO THEO NGỮ CẢNH: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Hiểu câu hỏi ngắn / đại từ thay thế: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Khi khách hỏi: 'Gói đó giá bao nhiêu tiền?', AI hiểu ngay 'gói đó' là gói vừa được đề cập ở tin nhắn trước.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2. Kỹ thuật Reverse History Search: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Quét ngược lịch sử hội thoại gần nhất để tìm tin nhắn của role: 'model'.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Đối chiếu tên gói tập thật trong danh mục (findReferencedPackages).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3. Xử lý logic nghiệp vụ đặc thù: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Tự động tính toán tổng thời hạn thực tế (Số tháng gốc + Số tháng tặng khuyến mãi).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9: Hàm điều phối trung tâm (Agent chat function)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BACKEND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BE/services/ai-agent.service.js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BE/services/ai-agent.service.js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async function chat({ message, accountId, conversationId })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if (!accountId) throw new Error("Chưa xác thực tài khoản.");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if (!message || message.length &gt; 3000) throw new Error("Tin nhắn không hợp lệ.");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  // 1. Quản lý phiên hội thoại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let currentConversationId = conversationId || conversationMemory.createConversation(accountId);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storedHistory = conversationMemory.getConversationHistory(currentConversationId, accountId) || [];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safeHistory = storedHistory.slice(-10); // Lấy 10 tin nhắn gần nhất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conversationMemory.saveMessage(currentConversationId, accountId, "user", message.trim());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finishChat = (answer) =&gt;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conversationMemory.saveMessage(currentConversationId, accountId, "model", answer);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return { conversationId: currentConversationId, answer };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  // 2. Định tuyến theo ý định chuyên sâu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if (isMyMembershipQuestion(message))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const result = await executeTool("getMyMembership", {}, accountId);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return finishChat(formatMembershipAnswer(result));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if (isPackagePriceFollowUp(message))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const packages = await executeTool("getActivePackages", {}, accountId);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const referenced = findReferencedPackages(packages, safeHistory);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return finishChat(getReferencedPackagePriceAnswer(referenced));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  // 3. Tra cứu công cụ mặc định &amp; tổng hợp câu trả lời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requiredTool = detectRequiredTool(message);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if (requiredTool)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const data = await executeTool(requiredTool, {}, accountId);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return finishChat(buildFallbackAnswer(requiredTool, data));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return finishChat("Xin lỗi, tôi chưa hiểu rõ yêu cầu. Bạn có thể hỏi về gói tập, sản phẩm hoặc lịch sử check-in nhé!");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QUY TRÌNH ĐIỀU PHỐI TRUNG TÂM: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Quản lý vòng đời hội thoại: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Tự động sinh conversationId nếu Client chưa có, duy trì ngữ cảnh an toàn.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Hàm finishChat đảm bảo mọi câu trả lời đều được lưu lại RAM để phục vụ lượt sau.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2. Định tuyến ưu tiên (Intent Priority):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Ưu tiên 1: Tra cứu gói tập cá nhân (bảo mật cao).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Ưu tiên 2: Xử lý hỏi giá tiếp nối (ngữ cảnh đa lượt).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Ưu tiên 3: Các câu hỏi nghiệp vụ chung (sản phẩm, gói tập mở bán, check-in).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3. Phản hồi mượt mà: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Trả về Object { conversationId, answer } sẵn sàng cho Frontend hiển thị.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10: Xây dựng Controller, Route &amp; Middleware JWT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BACKEND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BE/controllers/ai-agent.controller.js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BE/controllers/ai-agent.controller.js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AiAgentService = require("../services/ai-agent.service");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AiAgentController =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chat: async (req, res) =&gt;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try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  const message = String(req.body?.message || "").trim();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if (!message || message.length &gt; 3000)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    return res.status(400).json({ success: false, message: "Câu hỏi không hợp lệ." });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}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  const result = await AiAgentService.chat({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message,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conversationId: req.body?.conversationId || null,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accountId: req.auth.TaiKhoanID // Lấy từ JWT sau khi qua requireAuth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});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  return res.status(200).json({ success: true, ...result });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} catch (error)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  return res.status(500).json({ success: false, message: "AI Agent hiện không thể xử lý yêu cầu." });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module.exports = AiAgentController;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BE/routes/ai-agent.route.js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express = require("express");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router = express.Router();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router.post("/chat", AiAgentController.chat);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module.exports = router;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XÂY DỰNG ENDPOINT API CHUẨN REST: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Controller kiểm duyệt: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Kiểm tra tính hợp lệ của dữ liệu đầu vào.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Bắt Exception và trả HTTP Status Code chuẩn (400, 500) kèm thông điệp lỗi rõ ràng.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2. Trích xuất danh tính: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req.auth.TaiKhoanID được gán bởi middleware xác thực JWT.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Đảm bảo AI Agent luôn biết chính xác ai đang gửi câu hỏi.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3. Bảo vệ Route trong app.js: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Đăng ký tiền tố: app.use('/ai-agent', aiAgentRoute).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Được cấp quyền cho cả CUSTOMER, STAFF, ADMIN thông qua customerPaths regex: /^POST \/ai-agent\/chat$/.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914400"/>
            <a:ext cx="10360152" cy="5029200"/>
          </a:xfrm>
          <a:prstGeom prst="roundRect">
            <a:avLst/>
          </a:prstGeom>
          <a:solidFill>
            <a:srgbClr val="131D31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463040" y="1463040"/>
            <a:ext cx="256032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PHẦN 02 / MOBILE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148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TÍCH HỢP ỨNG DỤNG MOBILE (REACT NATIVE / EXPO)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Xây dựng API Client có Timeout, Giao diện Chatbot thông minh và Nút tắt trên Trang chủ.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389120"/>
            <a:ext cx="274320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3E635"/>
                </a:solidFill>
                <a:latin typeface="Segoe UI"/>
              </a:defRPr>
            </a:pPr>
            <a:r>
              <a:t>📱 React Native &amp; Expo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389120"/>
            <a:ext cx="274320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⏱️ AbortController Timeout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0" y="4389120"/>
            <a:ext cx="274320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DE047"/>
                </a:solidFill>
                <a:latin typeface="Segoe UI"/>
              </a:defRPr>
            </a:pPr>
            <a:r>
              <a:t>✨ Dark Mode UI &amp; Gestures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11: Lập trình API Client Mobile (ai-agent-api.ts)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30712"/>
                </a:solidFill>
                <a:latin typeface="Segoe UI"/>
              </a:defRPr>
            </a:pPr>
            <a:r>
              <a:t>MOBILE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Mobile/src/lib/ai-agent-api.ts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Mobile/src/lib/ai-agent-api.ts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import { authenticatedFetch, baseUrl } from '@/lib/account-api';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export type AiChatResponse =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success: boolean;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conversationId: string;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answer: string;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message?: string;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export async function sendAiMessage(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message: string,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conversationId?: string | null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): Promise&lt;AiChatResponse&gt;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controller = new AbortController();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timeout = setTimeout(() =&gt; controller.abort(), 60000); // 60s timeout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try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const response = await authenticatedFetch(`${baseUrl}/ai-agent/chat`,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method: 'POST',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headers: { 'Content-Type': 'application/json' },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body: JSON.stringify({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message: message.trim(),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...(conversationId ? { conversationId } : {}),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}),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signal: controller.signal,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});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const data = await response.json().catch(() =&gt; null);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if (!response.ok) throw new Error(data?.message || `HTTP ${response.status}`);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return data as AiChatResponse;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 catch (error: any)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if (error.name === 'AbortError') throw new Error('AI phản hồi quá lâu. Vui lòng thử lại.');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throw error;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 finally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clearTimeout(timeout);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KỸ THUẬT XÂY DỰNG API CLIENT MOBILE:</a:t>
            </a:r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1. Tự động đính kèm Token JWT: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authenticatedFetch tự động lấy JWT từ SecureStore đính kèm vào Authorization: Bearer &lt;token&gt;.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2. Cơ chế Timeout bằng AbortController: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Đặt thời gian chờ tối đa 60 giây. Nếu mạng lag hoặc server treo, client tự ngắt và thông báo thân thiện cho người dùng.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3. Kiểu dữ liệu TypeScript chặt chẽ: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Định nghĩa Type AiChatResponse đảm bảo IDE tự động gợi ý code, hạn chế tối đa lỗi runtime.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12: Khởi tạo State &amp; Màn hình Chat (ai-chat.tsx)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30712"/>
                </a:solidFill>
                <a:latin typeface="Segoe UI"/>
              </a:defRPr>
            </a:pPr>
            <a:r>
              <a:t>MOBILE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Mobile/src/app/ai-chat.tsx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Mobile/src/app/ai-chat.tsx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type ChatMessage = { id: string; role: 'user' | 'model'; text: string; };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WELCOME_MESSAGE: ChatMessage =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id: 'welcome', role: 'model',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text: 'Xin chào! Tôi là QA-Gym AI, trợ lý tư vấn của phòng tập.\n\nTôi có thể hỗ trợ bạn tìm hiểu về gói tập, sản phẩm, thông tin đăng ký và lịch sử check-in. Bạn cần hỗ trợ gì?'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const SUGGESTIONS = [</a:t>
            </a:r>
          </a:p>
          <a:p>
            <a:pPr>
              <a:spcAft>
                <a:spcPts val="150"/>
              </a:spcAft>
              <a:defRPr sz="950">
                <a:solidFill>
                  <a:srgbClr val="34D399"/>
                </a:solidFill>
                <a:latin typeface="Consolas"/>
              </a:defRPr>
            </a:pPr>
            <a:r>
              <a:t>  'Phòng Gym hiện có những gói tập nào?',</a:t>
            </a:r>
          </a:p>
          <a:p>
            <a:pPr>
              <a:spcAft>
                <a:spcPts val="150"/>
              </a:spcAft>
              <a:defRPr sz="950">
                <a:solidFill>
                  <a:srgbClr val="34D399"/>
                </a:solidFill>
                <a:latin typeface="Consolas"/>
              </a:defRPr>
            </a:pPr>
            <a:r>
              <a:t>  'Gói nào có thời hạn dài nhất?',</a:t>
            </a:r>
          </a:p>
          <a:p>
            <a:pPr>
              <a:spcAft>
                <a:spcPts val="150"/>
              </a:spcAft>
              <a:defRPr sz="950">
                <a:solidFill>
                  <a:srgbClr val="34D399"/>
                </a:solidFill>
                <a:latin typeface="Consolas"/>
              </a:defRPr>
            </a:pPr>
            <a:r>
              <a:t>  'Tôi đã đăng ký gói tập nào?',</a:t>
            </a:r>
          </a:p>
          <a:p>
            <a:pPr>
              <a:spcAft>
                <a:spcPts val="150"/>
              </a:spcAft>
              <a:defRPr sz="950">
                <a:solidFill>
                  <a:srgbClr val="34D399"/>
                </a:solidFill>
                <a:latin typeface="Consolas"/>
              </a:defRPr>
            </a:pPr>
            <a:r>
              <a:t>  'Phòng Gym có những sản phẩm gì?',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];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export default function AiChatScreen()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[messages, setMessages] = useState&lt;ChatMessage[]&gt;([WELCOME_MESSAGE]);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[input, setInput] = useState('');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[conversationId, setConversationId] = useState&lt;string | null&gt;(null);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[loading, setLoading] = useState(false);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listRef = useRef&lt;FlatList&lt;ChatMessage&gt;&gt;(null);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function handleNewConversation()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if (loading) return;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setConversationId(null);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setInput('');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setMessages([{ ...WELCOME_MESSAGE, id: `welcome-${Date.now()}` }]);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  // ...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QUẢN LÝ TRẠNG THÁI TRÊN MOBILE:</a:t>
            </a:r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1. Tin nhắn chào mừng (Welcome message):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Xuất hiện ngay khi mở màn hình, định hướng rõ khả năng hỗ trợ của trợ lý ảo.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2. Gợi ý câu hỏi thông minh (Suggestion Chips):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4 câu hỏi mẫu tiêu biểu nhất giúp người dùng chạm là gửi ngay, không cần gõ phím.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3. Nút Tạo cuộc trò chuyện mới (+):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Cho phép người dùng reset conversationId về null bất kỳ lúc nào để chuyển sang chủ đề khác mà không bị ảnh hưởng bởi ngữ cảnh cũ.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13: Xử lý Gửi/Nhận tin nhắn &amp; Loading Animation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30712"/>
                </a:solidFill>
                <a:latin typeface="Segoe UI"/>
              </a:defRPr>
            </a:pPr>
            <a:r>
              <a:t>MOBILE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Mobile/src/app/ai-chat.tsx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Mobile/src/app/ai-chat.tsx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async function handleSend(text?: string)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question = (text ?? input).trim();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if (!question || loading) return;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  // 1. Thêm tin nhắn của User ngay lập tức (Optimistic Update)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userMessage: ChatMessage = { id: `user-${Date.now()}`, role: 'user', text: question };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setMessages((prev) =&gt; [...prev, userMessage]);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setInput('');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setLoading(true);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try {</a:t>
            </a:r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    // 2. Gửi API đến Backend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const result = await sendAiMessage(question, conversationId);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setConversationId(result.conversationId);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    // 3. Thêm tin nhắn phản hồi của AI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const aiMessage: ChatMessage = { id: `model-${Date.now()}`, role: 'model', text: result.answer };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setMessages((prev) =&gt; [...prev, aiMessage]);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 catch (error)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  const errorText = error instanceof Error ? error.message : 'Đã xảy ra lỗi khi kết nối AI Agent.';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setMessages((prev) =&gt; [...prev, { id: `error-${Date.now()}`, role: 'model', text: errorText }]);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 finally {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setLoading(false);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TRẢI NGHIỆM NGƯỜI DÙNG MƯỢT MÀ (UX):</a:t>
            </a:r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1. Cập nhật tức thì (Optimistic UI):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Tin nhắn của User hiện lên ngay khi bấm Gửi, tạo cảm giác app phản hồi nhanh, không bị đơ.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2. Quản lý trạng thái Loading: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Hiển thị ActivityIndicator cùng dòng chữ 'QA-Gym AI đang trả lời...'.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Tạm thời khóa nút Gửi (disabled) trong khi AI đang xử lý để tránh spam request.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3. Xử lý lỗi tinh tế: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Nếu có lỗi (mất mạng, server timeout), thông báo lỗi được đưa trực tiếp vào luồng tin nhắn như một câu trả lời của hệ thống.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Bước 14: Render Bong bóng Chat &amp; Nút tắt Trang chủ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30712"/>
                </a:solidFill>
                <a:latin typeface="Segoe UI"/>
              </a:defRPr>
            </a:pPr>
            <a:r>
              <a:t>MOBILE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Mobile/src/app/ai-chat.tsx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1. Render Bong bóng Chat (Mobile/src/app/ai-chat.tsx)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function renderMessage({ item }: { item: ChatMessage }) {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const isUser = item.role === 'user';</a:t>
            </a:r>
          </a:p>
          <a:p>
            <a:pPr>
              <a:spcAft>
                <a:spcPts val="150"/>
              </a:spcAft>
              <a:defRPr sz="950">
                <a:solidFill>
                  <a:srgbClr val="38BDF8"/>
                </a:solidFill>
                <a:latin typeface="Consolas"/>
              </a:defRPr>
            </a:pPr>
            <a:r>
              <a:t>  return (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&lt;View style={[styles.messageRow, isUser ? styles.userRow : styles.aiRow]}&gt;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{!isUser &amp;&amp; (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&lt;View style={styles.botAvatar}&gt;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  &lt;Ionicons name="sparkles" size={17} color="#101210" /&gt;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&lt;/View&gt;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)}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&lt;View style={[styles.messageBubble, isUser ? styles.userBubble : styles.aiBubble]}&gt;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&lt;Text style={[styles.messageText, isUser &amp;&amp; styles.userMessageText]}&gt;{item.text}&lt;/Text&gt;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&lt;/View&gt;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&lt;/View&gt;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);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64748B"/>
                </a:solidFill>
                <a:latin typeface="Consolas"/>
              </a:defRPr>
            </a:pPr>
            <a:r>
              <a:t>// 2. Shortcut trên Header Trang chủ (Mobile/src/app/index.tsx)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&lt;TouchableOpacity style={styles.aiShortcut} activeOpacity={0.85} onPress={() =&gt; router.push('/ai-chat')}&gt;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&lt;View style={styles.aiShortcutIcon}&gt;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&lt;Ionicons name="sparkles" size={22} color="#101210" /&gt;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&lt;/View&gt;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&lt;View style={styles.aiShortcutContent}&gt;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&lt;Text style={styles.aiShortcutTitle}&gt;Trợ lý AI QA-Gym&lt;/Text&gt;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&lt;Text style={styles.aiShortcutDescription}&gt;Hỏi đáp về gói tập, sản phẩm và hội viên&lt;/Text&gt;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&lt;/View&gt;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&lt;Ionicons name="chevron-forward" size={20} color="#c3ff00" /&gt;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&lt;/TouchableOpacity&gt;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THIẾT KẾ GIAO DIỆN CHUẨN DARK MODE:</a:t>
            </a:r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1. Phân biệt thị giác rõ rệt: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Bong bóng User: Căn phải, màu nền tối đậm.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Bong bóng AI: Căn trái, kèm Avatar biểu tượng lấp lánh (Sparkles), màu xanh neon tương phản cao.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2. Tự động cuộn thông minh: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FlatList có onContentSizeChange gọi scrollTo({ animated: true }) giúp màn hình luôn cuộn đến tin nhắn mới nhất.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3. Lối tắt tiện lợi (Quick Action):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Đặt card lối tắt ngay đầu Trang chủ (index.tsx), thu hút hội viên trải nghiệm trợ lý AI chỉ với 1 chạm.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914400"/>
            <a:ext cx="10360152" cy="5029200"/>
          </a:xfrm>
          <a:prstGeom prst="roundRect">
            <a:avLst/>
          </a:prstGeom>
          <a:solidFill>
            <a:srgbClr val="131D31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463040" y="1463040"/>
            <a:ext cx="2560320" cy="4114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PHẦN 03 / THỬ NGHIỆM &amp; TRIỂN KHAI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148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KỊCH BẢN THỬ NGHIỆM THỰC TẾ &amp; VẬN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Đánh giá khả năng hoạt động qua 3 kịch bản thực tế và checklist trước khi đưa vào vận hành.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389120"/>
            <a:ext cx="274320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📊 So sánh gói tập mở bán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389120"/>
            <a:ext cx="274320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DE047"/>
                </a:solidFill>
                <a:latin typeface="Segoe UI"/>
              </a:defRPr>
            </a:pPr>
            <a:r>
              <a:t>🔐 Bảo mật gói cá nhân JWT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0" y="4389120"/>
            <a:ext cx="274320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3E635"/>
                </a:solidFill>
                <a:latin typeface="Segoe UI"/>
              </a:defRPr>
            </a:pPr>
            <a:r>
              <a:t>🧠 Hội thoại tiếp nối Multi-turn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Kịch bản 1: Tra cứu &amp; So sánh Gói tập mở bán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Trace: So sánh gói tập mở bán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TÌNH HUỐNG THỬ NGHIỆM: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• Khách hàng nhập:</a:t>
            </a:r>
          </a:p>
          <a:p>
            <a:pPr>
              <a:spcAft>
                <a:spcPts val="150"/>
              </a:spcAft>
              <a:defRPr sz="950">
                <a:solidFill>
                  <a:srgbClr val="34D399"/>
                </a:solidFill>
                <a:latin typeface="Consolas"/>
              </a:defRPr>
            </a:pPr>
            <a:r>
              <a:t>  "Gói nào có thời gian sử dụng dài nhất?"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• Phân tích của Agent: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- Hàm kiểm tra: isLongestPackageQuestion(message) -&gt; True.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- Kiểm tra tính cả tháng tặng: asksTotalDuration(message).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- Tool được kích hoạt: executeTool("getActivePackages").</a:t>
            </a:r>
          </a:p>
          <a:p>
            <a:pPr>
              <a:spcAft>
                <a:spcPts val="150"/>
              </a:spcAft>
              <a:defRPr sz="950">
                <a:solidFill>
                  <a:srgbClr val="FDE047"/>
                </a:solidFill>
                <a:latin typeface="Consolas"/>
              </a:defRPr>
            </a:pPr>
            <a:r>
              <a:t>  - SQL thực thi: SELECT TenGoi, SoThang, ThangTang, GiaBan FROM goitap...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• Kết quả trả về cho khách hàng:</a:t>
            </a:r>
          </a:p>
          <a:p>
            <a:pPr>
              <a:spcAft>
                <a:spcPts val="150"/>
              </a:spcAft>
              <a:defRPr sz="950">
                <a:solidFill>
                  <a:srgbClr val="34D399"/>
                </a:solidFill>
                <a:latin typeface="Consolas"/>
              </a:defRPr>
            </a:pPr>
            <a:r>
              <a:t>  "Các gói có tổng thời gian sử dụng dài nhất là 14 tháng: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1. Gói VIP Toàn diện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- Thời hạn đăng ký: 12 tháng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- Tháng tặng: 2 tháng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- Giá bán: 10.500.000 VNĐ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2. Gói Sinh viên Đặc biệt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- Thời hạn đăng ký: 12 tháng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- Tháng tặng: 2 tháng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- Giá bán: 7.200.000 VNĐ"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ĐIỂM NỔI BẬT CỦA KỊCH BẢN: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Tự động tính toán thông minh: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AI không chỉ nhìn vào thời hạn gốc mà tự cộng dồn Số tháng đăng ký + Số tháng tặng khuyến mãi.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Tìm ra chính xác giá trị Max (14 tháng) mà không bị nhầm lẫn.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2. Trình bày có cấu trúc: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Liệt kê rõ ràng thời hạn, khuyến mãi và giá bán theo định dạng tiền tệ Việt Nam (VNĐ).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3. Dữ liệu thời gian thực: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Lấy trực tiếp từ bảng goitap và GoiTapThoiHan trong CSDL MySQL, đảm bảo chính xác 100%.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Kịch bản 2: Tra cứu Gói tập cá nhân &amp; Bảo mật Hội viên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0292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TÌNH HUỐNG THỬ NGHIỆM:</a:t>
            </a:r>
          </a:p>
          <a:p>
            <a:pPr>
              <a:spcAft>
                <a:spcPts val="25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Khách hàng nhập qua Mobile:</a:t>
            </a:r>
          </a:p>
          <a:p>
            <a:pPr>
              <a:spcAft>
                <a:spcPts val="250"/>
              </a:spcAft>
              <a:defRPr sz="1200" b="1">
                <a:solidFill>
                  <a:srgbClr val="A3E635"/>
                </a:solidFill>
                <a:latin typeface="Segoe UI"/>
              </a:defRPr>
            </a:pPr>
            <a:r>
              <a:t>  'Tôi đang sử dụng gói tập nào? Còn hạn không?'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LUỒNG BẢO MẬT THỰC TẾ: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1. JWT Header -&gt; Giải mã Token -&gt; TaiKhoanID = 14.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2. isMyMembershipQuestion('toi dang su dung...') -&gt; True.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3. Kích hoạt executeTool('getMyMembership', {}, 14).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4. MySQL: WHERE hv.TaiKhoanID = 14 LIMIT 5.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KẾT QUẢ TRẢ VỀ CHO HỘI VIÊN: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'Thông tin gói tập của bạn tại QA-Gym:</a:t>
            </a:r>
          </a:p>
          <a:p>
            <a:pPr>
              <a:spcAft>
                <a:spcPts val="250"/>
              </a:spcAft>
              <a:defRPr sz="1100" b="0">
                <a:solidFill>
                  <a:srgbClr val="38BDF8"/>
                </a:solidFill>
                <a:latin typeface="Segoe UI"/>
              </a:defRPr>
            </a:pPr>
            <a:r>
              <a:t>   - Tên gói: Gói Standard 6 Tháng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- Thời hạn: 6 tháng (Tháng tặng: 0)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- Ngày bắt đầu: 2026-01-10',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- Ngày kết thúc: 2026-07-10',</a:t>
            </a:r>
          </a:p>
          <a:p>
            <a:pPr>
              <a:spcAft>
                <a:spcPts val="250"/>
              </a:spcAft>
              <a:defRPr sz="1100" b="0">
                <a:solidFill>
                  <a:srgbClr val="34D399"/>
                </a:solidFill>
                <a:latin typeface="Segoe UI"/>
              </a:defRPr>
            </a:pPr>
            <a:r>
              <a:t>   - Trạng thái: ACTIVE (Đã thanh toán)'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Kịch bản 3: Xử lý Ngữ cảnh tiếp nối (Multi-turn)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030712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000">
                <a:solidFill>
                  <a:srgbClr val="94A3B8"/>
                </a:solidFill>
                <a:latin typeface="Consolas"/>
              </a:defRPr>
            </a:pPr>
            <a:r>
              <a:t>💻 Trace: Ngữ cảnh tiếp nối đa lượt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HỘI THOẠI ĐA LƯỢT THỰC TẾ: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[LƯỢT 1]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Khách: "Phòng gym có những gói tập nào dài nhất?"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AI:    "Các gói có tổng thời gian sử dụng dài nhất là 14 tháng: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1. Gói VIP Toàn diện: 12 tháng + 2 tháng tặng.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2. Gói Sinh viên Đặc biệt: 12 tháng + 2 tháng tặng."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[LƯỢT 2] (Hỏi tiếp bằng đại từ thay thế)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Khách: "Gói đó có giá bao nhiêu tiền?"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AI:    (Phân tích ngược lịch sử hội thoại gần nhất trong RAM)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-&gt; Nhận diện câu hỏi thuộc loại: isPackagePriceFollowUp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-&gt; Trích xuất gói đã đề cập: "VIP Toàn diện", "Sinh viên Đặc biệt"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-&gt; Tra cứu giá bán trong danh mục và phản hồi: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endParaRPr/>
          </a:p>
          <a:p>
            <a:pPr>
              <a:spcAft>
                <a:spcPts val="150"/>
              </a:spcAft>
              <a:defRPr sz="950">
                <a:solidFill>
                  <a:srgbClr val="34D399"/>
                </a:solidFill>
                <a:latin typeface="Consolas"/>
              </a:defRPr>
            </a:pPr>
            <a:r>
              <a:t>       "Giá của các gói tập bạn vừa hỏi như sau: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1. Gói VIP Toàn diện: 10.500.000 VNĐ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2. Gói Sinh viên Đặc biệt: 7.200.000 VNĐ</a:t>
            </a:r>
          </a:p>
          <a:p>
            <a:pPr>
              <a:spcAft>
                <a:spcPts val="150"/>
              </a:spcAft>
              <a:defRPr sz="950">
                <a:solidFill>
                  <a:srgbClr val="CBD5E1"/>
                </a:solidFill>
                <a:latin typeface="Consolas"/>
              </a:defRPr>
            </a:pPr>
            <a:r>
              <a:t>        Bạn muốn đăng ký gói nào để tôi hướng dẫn?"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200" b="1">
                <a:solidFill>
                  <a:srgbClr val="FDE047"/>
                </a:solidFill>
                <a:latin typeface="Segoe UI"/>
              </a:defRPr>
            </a:pPr>
            <a:r>
              <a:t>SỨC MẠNH CỦA MULTI-TURN MEMORY:</a:t>
            </a:r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1. Giao tiếp tự nhiên như người thật: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Người dùng không cần lặp lại tên gói tập dài dòng.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Hệ thống tự hiểu đại từ 'Gói đó' dựa trên ngữ cảnh đã trò chuyện trước đó.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2. Kết hợp logic lai (Hybrid Agent Architecture):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Kết hợp sức mạnh ngôn ngữ tự nhiên của LLM với các hàm phân tích Regex và CSDL quan hệ chuẩn xác.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• Đảm bảo không bao giờ bị sai sót thông tin giá bán hoặc thời hạn.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Tổng kết Quy trình 6 bước &amp; Checklist Go-Live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65760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000" b="1">
                <a:solidFill>
                  <a:srgbClr val="030712"/>
                </a:solidFill>
                <a:latin typeface="Segoe UI"/>
              </a:defRPr>
            </a:pPr>
            <a:r>
              <a:t>TRIỂN KHAI THỰC TẾ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591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50" b="1">
                <a:solidFill>
                  <a:srgbClr val="38BDF8"/>
                </a:solidFill>
                <a:latin typeface="Segoe UI"/>
              </a:defRPr>
            </a:pPr>
            <a:r>
              <a:t>🚀 QUY TRÌNH 6 BƯỚC CỐT LÕI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150" b="1">
                <a:solidFill>
                  <a:srgbClr val="FDE047"/>
                </a:solidFill>
                <a:latin typeface="Segoe UI"/>
              </a:defRPr>
            </a:pPr>
            <a:r>
              <a:t>1. Thiết kế Danh mục Tools: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Xác định rõ công cụ đọc dữ liệu chung vs dữ liệu cá nhân.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150" b="1">
                <a:solidFill>
                  <a:srgbClr val="FDE047"/>
                </a:solidFill>
                <a:latin typeface="Segoe UI"/>
              </a:defRPr>
            </a:pPr>
            <a:r>
              <a:t>2. Kết nối LLM &amp; Viết System Prompt: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Sử dụng Gemini 3.8 Flash, ràng buộc chống bịa đặt (Anti-hallucination).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150" b="1">
                <a:solidFill>
                  <a:srgbClr val="FDE047"/>
                </a:solidFill>
                <a:latin typeface="Segoe UI"/>
              </a:defRPr>
            </a:pPr>
            <a:r>
              <a:t>3. Lập trình Tool Executor &amp; CSDL: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Kết nối MySQL Pool, tiêm an toàn UserId từ JWT token.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150" b="1">
                <a:solidFill>
                  <a:srgbClr val="FDE047"/>
                </a:solidFill>
                <a:latin typeface="Segoe UI"/>
              </a:defRPr>
            </a:pPr>
            <a:r>
              <a:t>4. Quản lý Bộ nhớ Đa lượt: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Map in RAM O(1), cơ chế Sliding Window 20 tin nhắn tiết kiệm token.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150" b="1">
                <a:solidFill>
                  <a:srgbClr val="FDE047"/>
                </a:solidFill>
                <a:latin typeface="Segoe UI"/>
              </a:defRPr>
            </a:pPr>
            <a:r>
              <a:t>5. Bảo mật Đa tầng: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Middleware JWT, phân quyền customerPaths trong app.js.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150" b="1">
                <a:solidFill>
                  <a:srgbClr val="FDE047"/>
                </a:solidFill>
                <a:latin typeface="Segoe UI"/>
              </a:defRPr>
            </a:pPr>
            <a:r>
              <a:t>6. Tích hợp Giao diện Mobile: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 Màn hình Chatbot React Native mượt mà, gợi ý nhanh, timeout 60s.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50" b="1">
                <a:solidFill>
                  <a:srgbClr val="A3E635"/>
                </a:solidFill>
                <a:latin typeface="Segoe UI"/>
              </a:defRPr>
            </a:pPr>
            <a:r>
              <a:t>🛡️ CHECKLIST TRƯỚC KHI GO-LIVE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  <a:defRPr sz="1150" b="1">
                <a:solidFill>
                  <a:srgbClr val="A3E635"/>
                </a:solidFill>
                <a:latin typeface="Segoe UI"/>
              </a:defRPr>
            </a:pPr>
            <a:r>
              <a:t>✓ Khóa API Key tuyệt đối bí mật: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Lưu trong file .env trên máy chủ, không commit lên Git và không gửi về phía Mobile.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150" b="1">
                <a:solidFill>
                  <a:srgbClr val="A3E635"/>
                </a:solidFill>
                <a:latin typeface="Segoe UI"/>
              </a:defRPr>
            </a:pPr>
            <a:r>
              <a:t>✓ Xác thực JWT trên mọi endpoint nhạy cảm: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Kiểm tra token hợp lệ và kiểm tra quyền sở hữu dữ liệu tài khoản.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150" b="1">
                <a:solidFill>
                  <a:srgbClr val="A3E635"/>
                </a:solidFill>
                <a:latin typeface="Segoe UI"/>
              </a:defRPr>
            </a:pPr>
            <a:r>
              <a:t>✓ Thiết lập AbortController Timeout: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Giới hạn thời gian chờ 60s trên Mobile để tránh treo UI khi mất kết nối mạng.</a:t>
            </a:r>
          </a:p>
          <a:p>
            <a:pPr>
              <a:defRPr sz="400">
                <a:latin typeface="Segoe UI"/>
              </a:defRPr>
            </a:pPr>
            <a:endParaRPr/>
          </a:p>
          <a:p>
            <a:pPr>
              <a:spcAft>
                <a:spcPts val="250"/>
              </a:spcAft>
              <a:defRPr sz="1150" b="1">
                <a:solidFill>
                  <a:srgbClr val="A3E635"/>
                </a:solidFill>
                <a:latin typeface="Segoe UI"/>
              </a:defRPr>
            </a:pPr>
            <a:r>
              <a:t>✓ Kiểm thử kịch bản Prompt Injection:</a:t>
            </a:r>
          </a:p>
          <a:p>
            <a:pPr>
              <a:spcAft>
                <a:spcPts val="250"/>
              </a:spcAft>
              <a:defRPr sz="1100" b="0">
                <a:solidFill>
                  <a:srgbClr val="CBD5E1"/>
                </a:solidFill>
                <a:latin typeface="Segoe UI"/>
              </a:defRPr>
            </a:pPr>
            <a:r>
              <a:t>  Thử nghiệm các câu lệnh lừa đảo và xác nhận AI luôn tuân thủ nguyên tắc bảo mật.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7744</Words>
  <Application>Microsoft Office PowerPoint</Application>
  <PresentationFormat>Widescreen</PresentationFormat>
  <Paragraphs>800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dohuuquocanh21dk@gmail.com</dc:creator>
  <cp:lastModifiedBy>dohuuquocanh21dk@gmail.com</cp:lastModifiedBy>
  <cp:revision>26</cp:revision>
  <dcterms:created xsi:type="dcterms:W3CDTF">2026-10-17T12:45:14Z</dcterms:created>
  <dcterms:modified xsi:type="dcterms:W3CDTF">2026-10-23T14:29:18Z</dcterms:modified>
</cp:coreProperties>
</file>